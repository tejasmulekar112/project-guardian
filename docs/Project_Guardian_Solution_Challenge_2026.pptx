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285F4"/>
                </a:solidFill>
                <a:latin typeface="Calibri"/>
              </a:defRPr>
            </a:pPr>
            <a:r>
              <a:t>PROJECT GUARDIAN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103120"/>
            <a:ext cx="9601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Calibri"/>
              </a:defRPr>
            </a:pPr>
            <a:r>
              <a:t>Project Guardian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38328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CCCCCC"/>
                </a:solidFill>
                <a:latin typeface="Calibri"/>
              </a:defRPr>
            </a:pPr>
            <a:r>
              <a:t>AI-Powered Smart Mobile Safety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4297680"/>
            <a:ext cx="2286000" cy="3657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457200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CCCCC"/>
                </a:solidFill>
                <a:latin typeface="Calibri"/>
              </a:defRPr>
            </a:pPr>
            <a:r>
              <a:t>Solution Challenge 2026  |  Build with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512064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CCCC"/>
                </a:solidFill>
                <a:latin typeface="Calibri"/>
              </a:defRPr>
            </a:pPr>
            <a:r>
              <a:t>Team: TeamKJ  |  Leader: Tejas Mulekar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33333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53035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C2626"/>
                </a:solidFill>
                <a:latin typeface="Calibri"/>
              </a:defRPr>
            </a:pPr>
            <a:r>
              <a:t>Every 4 seconds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9456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Calibri"/>
              </a:defRPr>
            </a:pPr>
            <a:r>
              <a:t>someone faces a violent emergency where they cannot reach their phone in time.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371600"/>
            <a:ext cx="53035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6459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C2626"/>
                </a:solidFill>
                <a:latin typeface="Calibri"/>
              </a:defRPr>
            </a:pPr>
            <a:r>
              <a:t>78% of safety apps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19456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Calibri"/>
              </a:defRPr>
            </a:pPr>
            <a:r>
              <a:t>require unlocking the phone and navigating to the app - impossible during an active threat.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657600"/>
            <a:ext cx="53035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9319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C2626"/>
                </a:solidFill>
                <a:latin typeface="Calibri"/>
              </a:defRPr>
            </a:pPr>
            <a:r>
              <a:t>Zero evidence capture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Calibri"/>
              </a:defRPr>
            </a:pPr>
            <a:r>
              <a:t>most emergencies leave no documentation, making it harder for law enforcement.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3657600"/>
            <a:ext cx="53035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39319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C2626"/>
                </a:solidFill>
                <a:latin typeface="Calibri"/>
              </a:defRPr>
            </a:pPr>
            <a:r>
              <a:t>Delayed notifications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448056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Calibri"/>
              </a:defRPr>
            </a:pPr>
            <a:r>
              <a:t>traditional calls reach only one responder; family and friends are left in the dark.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Calibri"/>
              </a:defRPr>
            </a:pPr>
            <a:r>
              <a:t>Project Guardian | Solution Challenge 2026 | TeamKJ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33333"/>
                </a:solidFill>
                <a:latin typeface="Calibri"/>
              </a:defRPr>
            </a:pPr>
            <a:r>
              <a:t>Our Solution: Project Guardian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66"/>
                </a:solidFill>
                <a:latin typeface="Calibri"/>
              </a:defRPr>
            </a:pPr>
            <a:r>
              <a:t>A comprehensive AI-powered personal safety ecosystem with three integrated components.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3474720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883664"/>
            <a:ext cx="347472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0574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33333"/>
                </a:solidFill>
                <a:latin typeface="Calibri"/>
              </a:defRPr>
            </a:pPr>
            <a:r>
              <a:t>Mobile 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146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285F4"/>
                </a:solidFill>
                <a:latin typeface="Calibri"/>
              </a:defRPr>
            </a:pPr>
            <a:r>
              <a:t>React Native / Expo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92608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666666"/>
                </a:solidFill>
                <a:latin typeface="Calibri"/>
              </a:defRPr>
            </a:pPr>
            <a:r>
              <a:t>3 SOS trigger methods:</a:t>
            </a:r>
          </a:p>
          <a:p>
            <a:pPr>
              <a:spcAft>
                <a:spcPts val="400"/>
              </a:spcAft>
              <a:defRPr sz="1400">
                <a:solidFill>
                  <a:srgbClr val="666666"/>
                </a:solidFill>
                <a:latin typeface="Calibri"/>
              </a:defRPr>
            </a:pPr>
            <a:r>
              <a:t>  - One-tap SOS button</a:t>
            </a:r>
          </a:p>
          <a:p>
            <a:pPr>
              <a:spcAft>
                <a:spcPts val="400"/>
              </a:spcAft>
              <a:defRPr sz="1400">
                <a:solidFill>
                  <a:srgbClr val="666666"/>
                </a:solidFill>
                <a:latin typeface="Calibri"/>
              </a:defRPr>
            </a:pPr>
            <a:r>
              <a:t>  - AI Voice Detection (20+ keywords)</a:t>
            </a:r>
          </a:p>
          <a:p>
            <a:pPr>
              <a:spcAft>
                <a:spcPts val="400"/>
              </a:spcAft>
              <a:defRPr sz="1400">
                <a:solidFill>
                  <a:srgbClr val="666666"/>
                </a:solidFill>
                <a:latin typeface="Calibri"/>
              </a:defRPr>
            </a:pPr>
            <a:r>
              <a:t>  - Shake Detection (3 shakes)</a:t>
            </a:r>
          </a:p>
          <a:p>
            <a:pPr>
              <a:spcAft>
                <a:spcPts val="400"/>
              </a:spcAft>
              <a:defRPr sz="1400">
                <a:solidFill>
                  <a:srgbClr val="666666"/>
                </a:solidFill>
                <a:latin typeface="Calibri"/>
              </a:defRPr>
            </a:pPr>
            <a:r>
              <a:t>  - Background monitoring (Android)</a:t>
            </a:r>
          </a:p>
          <a:p>
            <a:pPr>
              <a:spcAft>
                <a:spcPts val="400"/>
              </a:spcAft>
              <a:defRPr sz="1400">
                <a:solidFill>
                  <a:srgbClr val="666666"/>
                </a:solidFill>
                <a:latin typeface="Calibri"/>
              </a:defRPr>
            </a:pPr>
            <a:r>
              <a:t>  - Auto evidence capture (audio+video)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1828800"/>
            <a:ext cx="3474720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883664"/>
            <a:ext cx="347472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20574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33333"/>
                </a:solidFill>
                <a:latin typeface="Calibri"/>
              </a:defRPr>
            </a:pPr>
            <a:r>
              <a:t>Backend 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5146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4A853"/>
                </a:solidFill>
                <a:latin typeface="Calibri"/>
              </a:defRPr>
            </a:pPr>
            <a:r>
              <a:t>FastAPI / Python / Render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92608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666666"/>
                </a:solidFill>
                <a:latin typeface="Calibri"/>
              </a:defRPr>
            </a:pPr>
            <a:r>
              <a:t>Orchestrates emergency response:</a:t>
            </a:r>
          </a:p>
          <a:p>
            <a:pPr>
              <a:spcAft>
                <a:spcPts val="400"/>
              </a:spcAft>
              <a:defRPr sz="1400">
                <a:solidFill>
                  <a:srgbClr val="666666"/>
                </a:solidFill>
                <a:latin typeface="Calibri"/>
              </a:defRPr>
            </a:pPr>
            <a:r>
              <a:t>  - Firebase Auth token verification</a:t>
            </a:r>
          </a:p>
          <a:p>
            <a:pPr>
              <a:spcAft>
                <a:spcPts val="400"/>
              </a:spcAft>
              <a:defRPr sz="1400">
                <a:solidFill>
                  <a:srgbClr val="666666"/>
                </a:solidFill>
                <a:latin typeface="Calibri"/>
              </a:defRPr>
            </a:pPr>
            <a:r>
              <a:t>  - Firestore event storage</a:t>
            </a:r>
          </a:p>
          <a:p>
            <a:pPr>
              <a:spcAft>
                <a:spcPts val="400"/>
              </a:spcAft>
              <a:defRPr sz="1400">
                <a:solidFill>
                  <a:srgbClr val="666666"/>
                </a:solidFill>
                <a:latin typeface="Calibri"/>
              </a:defRPr>
            </a:pPr>
            <a:r>
              <a:t>  - SMS alerts via Twilio</a:t>
            </a:r>
          </a:p>
          <a:p>
            <a:pPr>
              <a:spcAft>
                <a:spcPts val="400"/>
              </a:spcAft>
              <a:defRPr sz="1400">
                <a:solidFill>
                  <a:srgbClr val="666666"/>
                </a:solidFill>
                <a:latin typeface="Calibri"/>
              </a:defRPr>
            </a:pPr>
            <a:r>
              <a:t>  - Push notifications via FCM</a:t>
            </a:r>
          </a:p>
          <a:p>
            <a:pPr>
              <a:spcAft>
                <a:spcPts val="400"/>
              </a:spcAft>
              <a:defRPr sz="1400">
                <a:solidFill>
                  <a:srgbClr val="666666"/>
                </a:solidFill>
                <a:latin typeface="Calibri"/>
              </a:defRPr>
            </a:pPr>
            <a:r>
              <a:t>  - AI voice transcription (Whisper)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828800"/>
            <a:ext cx="3474720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1883664"/>
            <a:ext cx="347472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0" y="20574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33333"/>
                </a:solidFill>
                <a:latin typeface="Calibri"/>
              </a:defRPr>
            </a:pPr>
            <a:r>
              <a:t>Admin Dashboard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25146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BBC05"/>
                </a:solidFill>
                <a:latin typeface="Calibri"/>
              </a:defRPr>
            </a:pPr>
            <a:r>
              <a:t>React / Vite / Firebase Hosting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292608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666666"/>
                </a:solidFill>
                <a:latin typeface="Calibri"/>
              </a:defRPr>
            </a:pPr>
            <a:r>
              <a:t>Real-time monitoring console:</a:t>
            </a:r>
          </a:p>
          <a:p>
            <a:pPr>
              <a:spcAft>
                <a:spcPts val="400"/>
              </a:spcAft>
              <a:defRPr sz="1400">
                <a:solidFill>
                  <a:srgbClr val="666666"/>
                </a:solidFill>
                <a:latin typeface="Calibri"/>
              </a:defRPr>
            </a:pPr>
            <a:r>
              <a:t>  - Live event tracking with maps</a:t>
            </a:r>
          </a:p>
          <a:p>
            <a:pPr>
              <a:spcAft>
                <a:spcPts val="400"/>
              </a:spcAft>
              <a:defRPr sz="1400">
                <a:solidFill>
                  <a:srgbClr val="666666"/>
                </a:solidFill>
                <a:latin typeface="Calibri"/>
              </a:defRPr>
            </a:pPr>
            <a:r>
              <a:t>  - Analytics &amp; trend charts (Recharts)</a:t>
            </a:r>
          </a:p>
          <a:p>
            <a:pPr>
              <a:spcAft>
                <a:spcPts val="400"/>
              </a:spcAft>
              <a:defRPr sz="1400">
                <a:solidFill>
                  <a:srgbClr val="666666"/>
                </a:solidFill>
                <a:latin typeface="Calibri"/>
              </a:defRPr>
            </a:pPr>
            <a:r>
              <a:t>  - Evidence playback (audio/video)</a:t>
            </a:r>
          </a:p>
          <a:p>
            <a:pPr>
              <a:spcAft>
                <a:spcPts val="400"/>
              </a:spcAft>
              <a:defRPr sz="1400">
                <a:solidFill>
                  <a:srgbClr val="666666"/>
                </a:solidFill>
                <a:latin typeface="Calibri"/>
              </a:defRPr>
            </a:pPr>
            <a:r>
              <a:t>  - CSV &amp; PDF export</a:t>
            </a:r>
          </a:p>
          <a:p>
            <a:pPr>
              <a:spcAft>
                <a:spcPts val="400"/>
              </a:spcAft>
              <a:defRPr sz="1400">
                <a:solidFill>
                  <a:srgbClr val="666666"/>
                </a:solidFill>
                <a:latin typeface="Calibri"/>
              </a:defRPr>
            </a:pPr>
            <a:r>
              <a:t>  - Event status management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Calibri"/>
              </a:defRPr>
            </a:pPr>
            <a:r>
              <a:t>Project Guardian | Solution Challenge 2026 | TeamKJ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33333"/>
                </a:solidFill>
                <a:latin typeface="Calibri"/>
              </a:defRPr>
            </a:pPr>
            <a:r>
              <a:t>What Makes Us Different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3474720" cy="4572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16152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Feature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4297680" y="1188720"/>
            <a:ext cx="3474720" cy="4572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0" y="1216152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Traditional Apps</a:t>
            </a:r>
          </a:p>
        </p:txBody>
      </p:sp>
      <p:sp>
        <p:nvSpPr>
          <p:cNvPr id="8" name="Rectangle 7"/>
          <p:cNvSpPr/>
          <p:nvPr/>
        </p:nvSpPr>
        <p:spPr>
          <a:xfrm>
            <a:off x="7863840" y="1188720"/>
            <a:ext cx="3474720" cy="4572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0" y="1216152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Project Guardian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1691640"/>
            <a:ext cx="34747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7373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Calibri"/>
              </a:defRPr>
            </a:pPr>
            <a:r>
              <a:t>Activation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691640"/>
            <a:ext cx="34747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17373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Calibri"/>
              </a:defRPr>
            </a:pPr>
            <a:r>
              <a:t>Manual button press only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63840" y="1691640"/>
            <a:ext cx="34747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80" y="17373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4A853"/>
                </a:solidFill>
                <a:latin typeface="Calibri"/>
              </a:defRPr>
            </a:pPr>
            <a:r>
              <a:t>Voice AI + Shake + Manual (3 methods)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2194560"/>
            <a:ext cx="3474720" cy="457200"/>
          </a:xfrm>
          <a:prstGeom prst="rect">
            <a:avLst/>
          </a:prstGeom>
          <a:solidFill>
            <a:srgbClr val="F0F4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22402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Calibri"/>
              </a:defRPr>
            </a:pPr>
            <a:r>
              <a:t>Background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0" y="2194560"/>
            <a:ext cx="3474720" cy="457200"/>
          </a:xfrm>
          <a:prstGeom prst="rect">
            <a:avLst/>
          </a:prstGeom>
          <a:solidFill>
            <a:srgbClr val="F0F4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0" y="22402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Calibri"/>
              </a:defRPr>
            </a:pPr>
            <a:r>
              <a:t>App must be open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63840" y="2194560"/>
            <a:ext cx="3474720" cy="457200"/>
          </a:xfrm>
          <a:prstGeom prst="rect">
            <a:avLst/>
          </a:prstGeom>
          <a:solidFill>
            <a:srgbClr val="F0F4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55280" y="22402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4A853"/>
                </a:solidFill>
                <a:latin typeface="Calibri"/>
              </a:defRPr>
            </a:pPr>
            <a:r>
              <a:t>Works from lock screen (Android)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2697480"/>
            <a:ext cx="34747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27432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Calibri"/>
              </a:defRPr>
            </a:pPr>
            <a:r>
              <a:t>Evidence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97680" y="2697480"/>
            <a:ext cx="34747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89120" y="27432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Calibri"/>
              </a:defRPr>
            </a:pPr>
            <a:r>
              <a:t>None or manual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863840" y="2697480"/>
            <a:ext cx="34747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55280" y="27432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4A853"/>
                </a:solidFill>
                <a:latin typeface="Calibri"/>
              </a:defRPr>
            </a:pPr>
            <a:r>
              <a:t>Auto 30s audio + 15s video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3200400"/>
            <a:ext cx="3474720" cy="457200"/>
          </a:xfrm>
          <a:prstGeom prst="rect">
            <a:avLst/>
          </a:prstGeom>
          <a:solidFill>
            <a:srgbClr val="F0F4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32461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Calibri"/>
              </a:defRPr>
            </a:pPr>
            <a:r>
              <a:t>Offline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97680" y="3200400"/>
            <a:ext cx="3474720" cy="457200"/>
          </a:xfrm>
          <a:prstGeom prst="rect">
            <a:avLst/>
          </a:prstGeom>
          <a:solidFill>
            <a:srgbClr val="F0F4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89120" y="32461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Calibri"/>
              </a:defRPr>
            </a:pPr>
            <a:r>
              <a:t>Requires internet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863840" y="3200400"/>
            <a:ext cx="3474720" cy="457200"/>
          </a:xfrm>
          <a:prstGeom prst="rect">
            <a:avLst/>
          </a:prstGeom>
          <a:solidFill>
            <a:srgbClr val="F0F4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55280" y="32461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4A853"/>
                </a:solidFill>
                <a:latin typeface="Calibri"/>
              </a:defRPr>
            </a:pPr>
            <a:r>
              <a:t>Local storage, auto-sync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" y="3703320"/>
            <a:ext cx="34747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" y="37490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Calibri"/>
              </a:defRPr>
            </a:pPr>
            <a:r>
              <a:t>Monitoring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97680" y="3703320"/>
            <a:ext cx="34747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89120" y="37490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Calibri"/>
              </a:defRPr>
            </a:pPr>
            <a:r>
              <a:t>None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863840" y="3703320"/>
            <a:ext cx="34747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955280" y="37490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4A853"/>
                </a:solidFill>
                <a:latin typeface="Calibri"/>
              </a:defRPr>
            </a:pPr>
            <a:r>
              <a:t>Real-time dashboard + analytics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31520" y="4206240"/>
            <a:ext cx="3474720" cy="457200"/>
          </a:xfrm>
          <a:prstGeom prst="rect">
            <a:avLst/>
          </a:prstGeom>
          <a:solidFill>
            <a:srgbClr val="F0F4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960" y="42519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Calibri"/>
              </a:defRPr>
            </a:pPr>
            <a:r>
              <a:t>Multi-language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97680" y="4206240"/>
            <a:ext cx="3474720" cy="457200"/>
          </a:xfrm>
          <a:prstGeom prst="rect">
            <a:avLst/>
          </a:prstGeom>
          <a:solidFill>
            <a:srgbClr val="F0F4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389120" y="42519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Calibri"/>
              </a:defRPr>
            </a:pPr>
            <a:r>
              <a:t>English only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863840" y="4206240"/>
            <a:ext cx="3474720" cy="457200"/>
          </a:xfrm>
          <a:prstGeom prst="rect">
            <a:avLst/>
          </a:prstGeom>
          <a:solidFill>
            <a:srgbClr val="F0F4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955280" y="42519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4A853"/>
                </a:solidFill>
                <a:latin typeface="Calibri"/>
              </a:defRPr>
            </a:pPr>
            <a:r>
              <a:t>English + Hindi + extensible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1520" y="4937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33333"/>
                </a:solidFill>
                <a:latin typeface="Calibri"/>
              </a:defRPr>
            </a:pPr>
            <a:r>
              <a:t>Unique Selling Points: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" y="53492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4285F4"/>
                </a:solidFill>
                <a:latin typeface="Calibri"/>
              </a:defRPr>
            </a:pPr>
            <a:r>
              <a:t>1. Hands-free AI-powered SOS activation (voice + shake + background)</a:t>
            </a:r>
          </a:p>
          <a:p>
            <a:pPr>
              <a:spcAft>
                <a:spcPts val="400"/>
              </a:spcAft>
              <a:defRPr sz="1400">
                <a:solidFill>
                  <a:srgbClr val="4285F4"/>
                </a:solidFill>
                <a:latin typeface="Calibri"/>
              </a:defRPr>
            </a:pPr>
            <a:r>
              <a:t>2. Automatic evidence capture (30s audio + 15s video simultaneously)</a:t>
            </a:r>
          </a:p>
          <a:p>
            <a:pPr>
              <a:spcAft>
                <a:spcPts val="400"/>
              </a:spcAft>
              <a:defRPr sz="1400">
                <a:solidFill>
                  <a:srgbClr val="4285F4"/>
                </a:solidFill>
                <a:latin typeface="Calibri"/>
              </a:defRPr>
            </a:pPr>
            <a:r>
              <a:t>3. Offline-first architecture with auto cloud sync</a:t>
            </a:r>
          </a:p>
          <a:p>
            <a:pPr>
              <a:spcAft>
                <a:spcPts val="400"/>
              </a:spcAft>
              <a:defRPr sz="1400">
                <a:solidFill>
                  <a:srgbClr val="4285F4"/>
                </a:solidFill>
                <a:latin typeface="Calibri"/>
              </a:defRPr>
            </a:pPr>
            <a:r>
              <a:t>4. Full-stack ecosystem: Mobile App + Backend API + Admin Dashboard</a:t>
            </a:r>
          </a:p>
          <a:p>
            <a:pPr>
              <a:spcAft>
                <a:spcPts val="400"/>
              </a:spcAft>
              <a:defRPr sz="1400">
                <a:solidFill>
                  <a:srgbClr val="4285F4"/>
                </a:solidFill>
                <a:latin typeface="Calibri"/>
              </a:defRPr>
            </a:pPr>
            <a:r>
              <a:t>5. 6+ Google Cloud services (Firebase Auth, Firestore, Storage, FCM, Hosting, Maps)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Calibri"/>
              </a:defRPr>
            </a:pPr>
            <a:r>
              <a:t>Project Guardian | Solution Challenge 2026 | TeamKJ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33333"/>
                </a:solidFill>
                <a:latin typeface="Calibri"/>
              </a:defRPr>
            </a:pPr>
            <a:r>
              <a:t>Key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2743200" cy="45720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SOS Activation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27432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  One-Tap SOS Button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0604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  AI Voice Detection (20+ keywords)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  Shake Detection (3 shakes / 2s)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16052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  10-Second Cancellable Countdown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3776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  Background Voice Monitoring (Android)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37560" y="1097280"/>
            <a:ext cx="2743200" cy="4572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9000" y="1143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Evidence &amp; Documentation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37560" y="1554480"/>
            <a:ext cx="27432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20440" y="182880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  Auto Audio Recording (30 seconds)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260604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  Auto Video Recording (15 seconds)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338328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  Manual Photo Capture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416052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  Offline Evidence Storage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493776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  Auto Cloud Upload with Retry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1097280"/>
            <a:ext cx="2743200" cy="4572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1143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Alerts &amp; Location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1554480"/>
            <a:ext cx="27432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182880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  SMS Alerts via Twilio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60604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  Push Notifications via FCM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38328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  Real-Time GPS Tracking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16052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  Google Maps Location Links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493776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  Multi-Contact Simultaneous Alert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98280" y="1097280"/>
            <a:ext cx="2743200" cy="457200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89720" y="1143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Dashboard &amp; UX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98280" y="1554480"/>
            <a:ext cx="27432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81160" y="182880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  Real-Time Event Monitoring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81160" y="260604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  Analytics &amp; Charts (Recharts)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81160" y="338328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  Evidence Playback (Audio/Video)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81160" y="416052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  CSV &amp; PDF Export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81160" y="493776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  Dark/Light Theme Support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Calibri"/>
              </a:defRPr>
            </a:pPr>
            <a:r>
              <a:t>Project Guardian | Solution Challenge 2026 | TeamKJ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33333"/>
                </a:solidFill>
                <a:latin typeface="Calibri"/>
              </a:defRPr>
            </a:pPr>
            <a:r>
              <a:t>SOS Process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26517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508760" y="1417320"/>
            <a:ext cx="640080" cy="640080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08760" y="148132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945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33333"/>
                </a:solidFill>
                <a:latin typeface="Calibri"/>
              </a:defRPr>
            </a:pPr>
            <a:r>
              <a:t>TRIGGER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176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  <a:latin typeface="Calibri"/>
              </a:defRPr>
            </a:pPr>
            <a:r>
              <a:t>Voice / Shake / Button</a:t>
            </a:r>
            <a:br/>
            <a:r>
              <a:t>detects emergency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4680" y="21031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285F4"/>
                </a:solidFill>
                <a:latin typeface="Calibri"/>
              </a:defRPr>
            </a:pPr>
            <a:r>
              <a:t>&gt;&gt;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29000" y="1280160"/>
            <a:ext cx="26517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389120" y="1417320"/>
            <a:ext cx="640080" cy="640080"/>
          </a:xfrm>
          <a:prstGeom prst="ellipse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148132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1945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33333"/>
                </a:solidFill>
                <a:latin typeface="Calibri"/>
              </a:defRPr>
            </a:pPr>
            <a:r>
              <a:t>COUNTDOWN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65176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  <a:latin typeface="Calibri"/>
              </a:defRPr>
            </a:pPr>
            <a:r>
              <a:t>10-second cancellable</a:t>
            </a:r>
            <a:br/>
            <a:r>
              <a:t>countdown overlay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21031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285F4"/>
                </a:solidFill>
                <a:latin typeface="Calibri"/>
              </a:defRPr>
            </a:pPr>
            <a:r>
              <a:t>&gt;&gt;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1280160"/>
            <a:ext cx="26517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269480" y="1417320"/>
            <a:ext cx="640080" cy="64008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69480" y="148132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1945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33333"/>
                </a:solidFill>
                <a:latin typeface="Calibri"/>
              </a:defRPr>
            </a:pPr>
            <a:r>
              <a:t>LOCATE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65176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  <a:latin typeface="Calibri"/>
              </a:defRPr>
            </a:pPr>
            <a:r>
              <a:t>GPS coordinates</a:t>
            </a:r>
            <a:br/>
            <a:r>
              <a:t>captured instantly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5400" y="21031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285F4"/>
                </a:solidFill>
                <a:latin typeface="Calibri"/>
              </a:defRPr>
            </a:pPr>
            <a:r>
              <a:t>&gt;&gt;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89720" y="1280160"/>
            <a:ext cx="26517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149840" y="1417320"/>
            <a:ext cx="640080" cy="64008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149840" y="148132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81160" y="21945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33333"/>
                </a:solidFill>
                <a:latin typeface="Calibri"/>
              </a:defRPr>
            </a:pPr>
            <a:r>
              <a:t>RECORD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81160" y="265176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  <a:latin typeface="Calibri"/>
              </a:defRPr>
            </a:pPr>
            <a:r>
              <a:t>30s audio + 15s video</a:t>
            </a:r>
            <a:br/>
            <a:r>
              <a:t>auto-captured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3931920"/>
            <a:ext cx="26517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508760" y="4069080"/>
            <a:ext cx="640080" cy="64008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508760" y="413308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48463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33333"/>
                </a:solidFill>
                <a:latin typeface="Calibri"/>
              </a:defRPr>
            </a:pPr>
            <a:r>
              <a:t>DISPATCH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30352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  <a:latin typeface="Calibri"/>
              </a:defRPr>
            </a:pPr>
            <a:r>
              <a:t>Backend processes</a:t>
            </a:r>
            <a:br/>
            <a:r>
              <a:t>SOS event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54680" y="47548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285F4"/>
                </a:solidFill>
                <a:latin typeface="Calibri"/>
              </a:defRPr>
            </a:pPr>
            <a:r>
              <a:t>&gt;&gt;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429000" y="3931920"/>
            <a:ext cx="26517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389120" y="4069080"/>
            <a:ext cx="640080" cy="640080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89120" y="413308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20440" y="48463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33333"/>
                </a:solidFill>
                <a:latin typeface="Calibri"/>
              </a:defRPr>
            </a:pPr>
            <a:r>
              <a:t>ALERT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20440" y="530352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  <a:latin typeface="Calibri"/>
              </a:defRPr>
            </a:pPr>
            <a:r>
              <a:t>SMS + Push sent to</a:t>
            </a:r>
            <a:br/>
            <a:r>
              <a:t>emergency contacts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35040" y="47548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285F4"/>
                </a:solidFill>
                <a:latin typeface="Calibri"/>
              </a:defRPr>
            </a:pPr>
            <a:r>
              <a:t>&gt;&gt;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09360" y="3931920"/>
            <a:ext cx="26517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269480" y="4069080"/>
            <a:ext cx="640080" cy="64008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269480" y="413308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48463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33333"/>
                </a:solidFill>
                <a:latin typeface="Calibri"/>
              </a:defRPr>
            </a:pPr>
            <a:r>
              <a:t>UPLOAD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530352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  <a:latin typeface="Calibri"/>
              </a:defRPr>
            </a:pPr>
            <a:r>
              <a:t>Evidence uploaded to</a:t>
            </a:r>
            <a:br/>
            <a:r>
              <a:t>Firebase Cloud Storage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15400" y="47548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285F4"/>
                </a:solidFill>
                <a:latin typeface="Calibri"/>
              </a:defRPr>
            </a:pPr>
            <a:r>
              <a:t>&gt;&gt;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189720" y="3931920"/>
            <a:ext cx="26517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0149840" y="4069080"/>
            <a:ext cx="640080" cy="640080"/>
          </a:xfrm>
          <a:prstGeom prst="ellipse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149840" y="413308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81160" y="48463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33333"/>
                </a:solidFill>
                <a:latin typeface="Calibri"/>
              </a:defRPr>
            </a:pPr>
            <a:r>
              <a:t>MONITOR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81160" y="530352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  <a:latin typeface="Calibri"/>
              </a:defRPr>
            </a:pPr>
            <a:r>
              <a:t>Admin dashboard shows</a:t>
            </a:r>
            <a:br/>
            <a:r>
              <a:t>real-time event data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Calibri"/>
              </a:defRPr>
            </a:pPr>
            <a:r>
              <a:t>Project Guardian | Solution Challenge 2026 | TeamKJ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33333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3200400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35024"/>
            <a:ext cx="32004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4285F4"/>
                </a:solidFill>
                <a:latin typeface="Calibri"/>
              </a:defRPr>
            </a:pPr>
            <a:r>
              <a:t>Mobile 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React Native / Expo / TypeScript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2834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- AI Voice Detection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- Shake Detection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- SOS Button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- Evidence Capture (Audio+Video)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- GPS Location Tracking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- Firebase Auth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- Offline Evidence Storage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1280160"/>
            <a:ext cx="3017520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0" y="1335024"/>
            <a:ext cx="30175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146304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4A853"/>
                </a:solidFill>
                <a:latin typeface="Calibri"/>
              </a:defRPr>
            </a:pPr>
            <a:r>
              <a:t>Backend 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182880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FastAPI / Python / Render.com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194560"/>
            <a:ext cx="2651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- POST /sos/trigger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- Firebase Token Verification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- Firestore Event Storage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- Twilio SMS Dispatch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- FCM Push Notifications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- Google Maps URL Generation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- Whisper AI Transcription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03920" y="1280160"/>
            <a:ext cx="3200400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503920" y="1335024"/>
            <a:ext cx="32004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0" y="14630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BBC05"/>
                </a:solidFill>
                <a:latin typeface="Calibri"/>
              </a:defRPr>
            </a:pPr>
            <a:r>
              <a:t>Google Firebase (Cloud)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182880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6 Google Cloud Services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2194560"/>
            <a:ext cx="2834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- Authentication (Email/Password)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- Firestore (NoSQL Database)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- Cloud Storage (Evidence Files)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- Cloud Messaging (FCM Push)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- Firebase Hosting (Dashboard)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- Security Rules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0" y="4846320"/>
            <a:ext cx="3017520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0" y="4901184"/>
            <a:ext cx="30175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54880" y="50292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A4335"/>
                </a:solidFill>
                <a:latin typeface="Calibri"/>
              </a:defRPr>
            </a:pPr>
            <a:r>
              <a:t>Admin Dashboard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539496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Calibri"/>
              </a:defRPr>
            </a:pPr>
            <a:r>
              <a:t>React / Vite / TailwindCSS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566928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Real-time monitoring, Analytics,</a:t>
            </a:r>
            <a:br/>
            <a:r>
              <a:t>Evidence playback, CSV/PDF Export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846320"/>
            <a:ext cx="3200400" cy="54864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4901184"/>
            <a:ext cx="32004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50292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666666"/>
                </a:solidFill>
                <a:latin typeface="Calibri"/>
              </a:defRPr>
            </a:pPr>
            <a:r>
              <a:t>External Services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39496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- Twilio (SMS Gateway)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- Google Maps API (Location)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- OpenAI Whisper (Voice AI)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Calibri"/>
              </a:defRPr>
            </a:pPr>
            <a:r>
              <a:t>- Expo EAS (Mobile Builds)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25603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285F4"/>
                </a:solidFill>
                <a:latin typeface="Calibri"/>
              </a:defRPr>
            </a:pPr>
            <a:r>
              <a:t>REST API --&gt;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79" y="25603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4A853"/>
                </a:solidFill>
                <a:latin typeface="Calibri"/>
              </a:defRPr>
            </a:pPr>
            <a:r>
              <a:t>SDK --&gt;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0" y="46177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BBC05"/>
                </a:solidFill>
                <a:latin typeface="Calibri"/>
              </a:defRPr>
            </a:pPr>
            <a:r>
              <a:t>&lt;-- Firestore Real-time Sync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Calibri"/>
              </a:defRPr>
            </a:pPr>
            <a:r>
              <a:t>Project Guardian | Solution Challenge 2026 | TeamKJ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33333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2743200" cy="4572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Mobile App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00200"/>
            <a:ext cx="274320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7830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React Native 0.81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3317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Expo SDK 54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8803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TypeScript 5.9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4290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expo-speech-recognition 3.1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9776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expo-sensors 15.0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5262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expo-camera 17.0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50749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expo-location 19.0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56235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react-native-maps 1.20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91840" y="1097280"/>
            <a:ext cx="2743200" cy="4572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83280" y="1143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91840" y="1600200"/>
            <a:ext cx="274320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29000" y="17830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Python 3.12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9000" y="23317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FastAPI 0.115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28803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Firebase Admin SDK 6.6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9000" y="34290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Twilio SDK 9.4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29000" y="39776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Pydantic 2.7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29000" y="45262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Uvicorn 0.34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29000" y="50749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Poetry (Deps)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29000" y="56235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Ruff 0.9 (Linter)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1097280"/>
            <a:ext cx="2743200" cy="45720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60" y="1143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Dashboard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1600200"/>
            <a:ext cx="274320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17830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React 19.1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23317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Vite 6.3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28803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TailwindCSS 4.1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34290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Leaflet.js 1.9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39776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Recharts 3.8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45262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React Router 7.5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5080" y="50749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jsPDF 4.2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5080" y="56235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Firebase SDK 11.6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44000" y="1097280"/>
            <a:ext cx="2743200" cy="457200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35440" y="1143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Cloud &amp; AI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0" y="1600200"/>
            <a:ext cx="274320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281160" y="17830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Firebase Auth (Google)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81160" y="23317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Firestore (Google)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81160" y="28803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Cloud Storage (Google)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81160" y="34290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FCM Push (Google)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81160" y="39776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Firebase Hosting (Google)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81160" y="45262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Google Maps API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81160" y="50749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Render.com (Backend)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81160" y="56235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  Expo EAS (Builds)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Calibri"/>
              </a:defRPr>
            </a:pPr>
            <a:r>
              <a:t>Project Guardian | Solution Challenge 2026 | TeamKJ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33333"/>
                </a:solidFill>
                <a:latin typeface="Calibri"/>
              </a:defRPr>
            </a:pPr>
            <a:r>
              <a:t>Google Cloud Services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Calibri"/>
              </a:defRPr>
            </a:pPr>
            <a:r>
              <a:t>Project Guardian leverages 6+ Google services as its cloud backbone.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3566160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09344"/>
            <a:ext cx="35661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Calibri"/>
              </a:defRPr>
            </a:pPr>
            <a:r>
              <a:t>Firebase Authentication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4028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Secure email/password login with session persistence and auto token refresh for background services.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554480"/>
            <a:ext cx="3566160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1609344"/>
            <a:ext cx="35661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7830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Calibri"/>
              </a:defRPr>
            </a:pPr>
            <a:r>
              <a:t>Cloud Firestore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24028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Real-time NoSQL database for SOS events, user profiles, and emergency contacts with live sync.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554480"/>
            <a:ext cx="3566160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609344"/>
            <a:ext cx="35661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7830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Calibri"/>
              </a:defRPr>
            </a:pPr>
            <a:r>
              <a:t>Firebase Cloud Storage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24028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Scalable storage for evidence files (audio, video, photos) with resumable uploads.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840480"/>
            <a:ext cx="3566160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895344"/>
            <a:ext cx="35661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0690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Calibri"/>
              </a:defRPr>
            </a:pPr>
            <a:r>
              <a:t>Firebase Cloud Messaging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52628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Cross-platform push notifications to alert all emergency contacts instantly on SOS.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80" y="3840480"/>
            <a:ext cx="3566160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97680" y="3895344"/>
            <a:ext cx="35661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80560" y="40690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Calibri"/>
              </a:defRPr>
            </a:pPr>
            <a:r>
              <a:t>Firebase Hosting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452628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Global CDN hosting for the admin dashboard SPA with SSL and custom domain support.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38160" y="3840480"/>
            <a:ext cx="3566160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38160" y="3895344"/>
            <a:ext cx="35661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0" y="40690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Calibri"/>
              </a:defRPr>
            </a:pPr>
            <a:r>
              <a:t>Google Maps API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452628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Calibri"/>
              </a:defRPr>
            </a:pPr>
            <a:r>
              <a:t>Location URL generation for SMS alerts, enabling one-tap navigation to exact GPS coordinates.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Calibri"/>
              </a:defRPr>
            </a:pPr>
            <a:r>
              <a:t>Project Guardian | Solution Challenge 2026 | TeamKJ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33333"/>
                </a:solidFill>
                <a:latin typeface="Calibri"/>
              </a:defRPr>
            </a:pPr>
            <a:r>
              <a:t>Cloud Deployment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3566160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43584"/>
            <a:ext cx="356616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33333"/>
                </a:solidFill>
                <a:latin typeface="Calibri"/>
              </a:defRPr>
            </a:pPr>
            <a:r>
              <a:t>Backend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745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4A853"/>
                </a:solidFill>
                <a:latin typeface="Calibri"/>
              </a:defRPr>
            </a:pPr>
            <a:r>
              <a:t>Render.com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286000"/>
            <a:ext cx="3200400" cy="36576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30428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285F4"/>
                </a:solidFill>
                <a:latin typeface="Calibri"/>
              </a:defRPr>
            </a:pPr>
            <a:r>
              <a:t>guardian-api-dyuw.onrender.com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834640"/>
            <a:ext cx="3017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666666"/>
                </a:solidFill>
                <a:latin typeface="Calibri"/>
              </a:defRPr>
            </a:pPr>
            <a:r>
              <a:t>  FastAPI auto-deployed from GitHub</a:t>
            </a:r>
          </a:p>
          <a:p>
            <a:pPr>
              <a:spcAft>
                <a:spcPts val="400"/>
              </a:spcAft>
              <a:defRPr sz="1300">
                <a:solidFill>
                  <a:srgbClr val="666666"/>
                </a:solidFill>
                <a:latin typeface="Calibri"/>
              </a:defRPr>
            </a:pPr>
            <a:r>
              <a:t>  Health check at /health endpoint</a:t>
            </a:r>
          </a:p>
          <a:p>
            <a:pPr>
              <a:spcAft>
                <a:spcPts val="400"/>
              </a:spcAft>
              <a:defRPr sz="1300">
                <a:solidFill>
                  <a:srgbClr val="666666"/>
                </a:solidFill>
                <a:latin typeface="Calibri"/>
              </a:defRPr>
            </a:pPr>
            <a:r>
              <a:t>  CORS enabled for cross-origin</a:t>
            </a:r>
          </a:p>
          <a:p>
            <a:pPr>
              <a:spcAft>
                <a:spcPts val="400"/>
              </a:spcAft>
              <a:defRPr sz="1300">
                <a:solidFill>
                  <a:srgbClr val="666666"/>
                </a:solidFill>
                <a:latin typeface="Calibri"/>
              </a:defRPr>
            </a:pPr>
            <a:r>
              <a:t>  Firebase Admin SDK integration</a:t>
            </a:r>
          </a:p>
          <a:p>
            <a:pPr>
              <a:spcAft>
                <a:spcPts val="400"/>
              </a:spcAft>
              <a:defRPr sz="1300">
                <a:solidFill>
                  <a:srgbClr val="666666"/>
                </a:solidFill>
                <a:latin typeface="Calibri"/>
              </a:defRPr>
            </a:pPr>
            <a:r>
              <a:t>  Environment secrets managed securely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188720"/>
            <a:ext cx="3566160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243584"/>
            <a:ext cx="356616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4630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33333"/>
                </a:solidFill>
                <a:latin typeface="Calibri"/>
              </a:defRPr>
            </a:pPr>
            <a:r>
              <a:t>Admin Dashboard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18745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BBC05"/>
                </a:solidFill>
                <a:latin typeface="Calibri"/>
              </a:defRPr>
            </a:pPr>
            <a:r>
              <a:t>Firebase Hosting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80560" y="2286000"/>
            <a:ext cx="3200400" cy="36576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230428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285F4"/>
                </a:solidFill>
                <a:latin typeface="Calibri"/>
              </a:defRPr>
            </a:pPr>
            <a:r>
              <a:t>student-attendence-5f147.web.app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834640"/>
            <a:ext cx="3017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666666"/>
                </a:solidFill>
                <a:latin typeface="Calibri"/>
              </a:defRPr>
            </a:pPr>
            <a:r>
              <a:t>  React SPA built with Vite</a:t>
            </a:r>
          </a:p>
          <a:p>
            <a:pPr>
              <a:spcAft>
                <a:spcPts val="400"/>
              </a:spcAft>
              <a:defRPr sz="1300">
                <a:solidFill>
                  <a:srgbClr val="666666"/>
                </a:solidFill>
                <a:latin typeface="Calibri"/>
              </a:defRPr>
            </a:pPr>
            <a:r>
              <a:t>  Global CDN distribution</a:t>
            </a:r>
          </a:p>
          <a:p>
            <a:pPr>
              <a:spcAft>
                <a:spcPts val="400"/>
              </a:spcAft>
              <a:defRPr sz="1300">
                <a:solidFill>
                  <a:srgbClr val="666666"/>
                </a:solidFill>
                <a:latin typeface="Calibri"/>
              </a:defRPr>
            </a:pPr>
            <a:r>
              <a:t>  SPA rewrite rules configured</a:t>
            </a:r>
          </a:p>
          <a:p>
            <a:pPr>
              <a:spcAft>
                <a:spcPts val="400"/>
              </a:spcAft>
              <a:defRPr sz="1300">
                <a:solidFill>
                  <a:srgbClr val="666666"/>
                </a:solidFill>
                <a:latin typeface="Calibri"/>
              </a:defRPr>
            </a:pPr>
            <a:r>
              <a:t>  SSL certificate included</a:t>
            </a:r>
          </a:p>
          <a:p>
            <a:pPr>
              <a:spcAft>
                <a:spcPts val="400"/>
              </a:spcAft>
              <a:defRPr sz="1300">
                <a:solidFill>
                  <a:srgbClr val="666666"/>
                </a:solidFill>
                <a:latin typeface="Calibri"/>
              </a:defRPr>
            </a:pPr>
            <a:r>
              <a:t>  Custom domain ready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60" y="1188720"/>
            <a:ext cx="3566160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8160" y="1243584"/>
            <a:ext cx="356616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14630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33333"/>
                </a:solidFill>
                <a:latin typeface="Calibri"/>
              </a:defRPr>
            </a:pPr>
            <a:r>
              <a:t>Mobile App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18745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285F4"/>
                </a:solidFill>
                <a:latin typeface="Calibri"/>
              </a:defRPr>
            </a:pPr>
            <a:r>
              <a:t>Expo EAS Build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21040" y="2286000"/>
            <a:ext cx="3200400" cy="36576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0" y="230428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285F4"/>
                </a:solidFill>
                <a:latin typeface="Calibri"/>
              </a:defRPr>
            </a:pPr>
            <a:r>
              <a:t>Android APK &amp; AAB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2834640"/>
            <a:ext cx="3017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666666"/>
                </a:solidFill>
                <a:latin typeface="Calibri"/>
              </a:defRPr>
            </a:pPr>
            <a:r>
              <a:t>  Expo Application Services</a:t>
            </a:r>
          </a:p>
          <a:p>
            <a:pPr>
              <a:spcAft>
                <a:spcPts val="400"/>
              </a:spcAft>
              <a:defRPr sz="1300">
                <a:solidFill>
                  <a:srgbClr val="666666"/>
                </a:solidFill>
                <a:latin typeface="Calibri"/>
              </a:defRPr>
            </a:pPr>
            <a:r>
              <a:t>  Preview APK for testing</a:t>
            </a:r>
          </a:p>
          <a:p>
            <a:pPr>
              <a:spcAft>
                <a:spcPts val="400"/>
              </a:spcAft>
              <a:defRPr sz="1300">
                <a:solidFill>
                  <a:srgbClr val="666666"/>
                </a:solidFill>
                <a:latin typeface="Calibri"/>
              </a:defRPr>
            </a:pPr>
            <a:r>
              <a:t>  Production AAB for Play Store</a:t>
            </a:r>
          </a:p>
          <a:p>
            <a:pPr>
              <a:spcAft>
                <a:spcPts val="400"/>
              </a:spcAft>
              <a:defRPr sz="1300">
                <a:solidFill>
                  <a:srgbClr val="666666"/>
                </a:solidFill>
                <a:latin typeface="Calibri"/>
              </a:defRPr>
            </a:pPr>
            <a:r>
              <a:t>  OTA updates supported</a:t>
            </a:r>
          </a:p>
          <a:p>
            <a:pPr>
              <a:spcAft>
                <a:spcPts val="400"/>
              </a:spcAft>
              <a:defRPr sz="1300">
                <a:solidFill>
                  <a:srgbClr val="666666"/>
                </a:solidFill>
                <a:latin typeface="Calibri"/>
              </a:defRPr>
            </a:pPr>
            <a:r>
              <a:t>  EAS-managed signing credentials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Calibri"/>
              </a:defRPr>
            </a:pPr>
            <a:r>
              <a:t>Project Guardian | Solution Challenge 2026 | TeamKJ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33333"/>
                </a:solidFill>
                <a:latin typeface="Calibri"/>
              </a:defRPr>
            </a:pPr>
            <a:r>
              <a:t>Estimated Monthly Cost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3200400" cy="4572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16152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Service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3931920" y="1188720"/>
            <a:ext cx="2286000" cy="4572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023360" y="121615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Provider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188720"/>
            <a:ext cx="2743200" cy="4572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21615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Free Tier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8961120" y="1188720"/>
            <a:ext cx="1828800" cy="4572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0" y="121615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Cost/Month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1691640"/>
            <a:ext cx="32004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70992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Auth + DB + Storage + FCM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31920" y="1691640"/>
            <a:ext cx="22860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23360" y="170992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Firebase (Spark)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691640"/>
            <a:ext cx="27432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170992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Generous free tier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0" y="1691640"/>
            <a:ext cx="1828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0" y="170992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4A853"/>
                </a:solidFill>
                <a:latin typeface="Calibri"/>
              </a:defRPr>
            </a:pPr>
            <a:r>
              <a:t>$0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2148840"/>
            <a:ext cx="3200400" cy="438912"/>
          </a:xfrm>
          <a:prstGeom prst="rect">
            <a:avLst/>
          </a:prstGeom>
          <a:solidFill>
            <a:srgbClr val="F0F4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216712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Dashboard Hosting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31920" y="2148840"/>
            <a:ext cx="2286000" cy="438912"/>
          </a:xfrm>
          <a:prstGeom prst="rect">
            <a:avLst/>
          </a:prstGeom>
          <a:solidFill>
            <a:srgbClr val="F0F4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023360" y="216712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Firebase Hosting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2148840"/>
            <a:ext cx="2743200" cy="438912"/>
          </a:xfrm>
          <a:prstGeom prst="rect">
            <a:avLst/>
          </a:prstGeom>
          <a:solidFill>
            <a:srgbClr val="F0F4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216712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10 GB/month free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61120" y="2148840"/>
            <a:ext cx="1828800" cy="438912"/>
          </a:xfrm>
          <a:prstGeom prst="rect">
            <a:avLst/>
          </a:prstGeom>
          <a:solidFill>
            <a:srgbClr val="F0F4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52560" y="216712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4A853"/>
                </a:solidFill>
                <a:latin typeface="Calibri"/>
              </a:defRPr>
            </a:pPr>
            <a:r>
              <a:t>$0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2606040"/>
            <a:ext cx="32004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262432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Backend API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931920" y="2606040"/>
            <a:ext cx="22860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023360" y="262432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Render.com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2606040"/>
            <a:ext cx="27432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60" y="262432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750 hours/month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961120" y="2606040"/>
            <a:ext cx="1828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52560" y="262432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4A853"/>
                </a:solidFill>
                <a:latin typeface="Calibri"/>
              </a:defRPr>
            </a:pPr>
            <a:r>
              <a:t>$0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3063240"/>
            <a:ext cx="3200400" cy="438912"/>
          </a:xfrm>
          <a:prstGeom prst="rect">
            <a:avLst/>
          </a:prstGeom>
          <a:solidFill>
            <a:srgbClr val="F0F4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" y="308152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SMS Alerts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931920" y="3063240"/>
            <a:ext cx="2286000" cy="438912"/>
          </a:xfrm>
          <a:prstGeom prst="rect">
            <a:avLst/>
          </a:prstGeom>
          <a:solidFill>
            <a:srgbClr val="F0F4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023360" y="308152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Twilio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17920" y="3063240"/>
            <a:ext cx="2743200" cy="438912"/>
          </a:xfrm>
          <a:prstGeom prst="rect">
            <a:avLst/>
          </a:prstGeom>
          <a:solidFill>
            <a:srgbClr val="F0F4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09360" y="308152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$0.0079/SMS (US)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961120" y="3063240"/>
            <a:ext cx="1828800" cy="438912"/>
          </a:xfrm>
          <a:prstGeom prst="rect">
            <a:avLst/>
          </a:prstGeom>
          <a:solidFill>
            <a:srgbClr val="F0F4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052560" y="308152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BBC05"/>
                </a:solidFill>
                <a:latin typeface="Calibri"/>
              </a:defRPr>
            </a:pPr>
            <a:r>
              <a:t>$5-15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31520" y="3520440"/>
            <a:ext cx="32004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2960" y="353872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Maps API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931920" y="3520440"/>
            <a:ext cx="22860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023360" y="353872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Google Maps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17920" y="3520440"/>
            <a:ext cx="27432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09360" y="353872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$200/month credit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961120" y="3520440"/>
            <a:ext cx="1828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052560" y="353872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4A853"/>
                </a:solidFill>
                <a:latin typeface="Calibri"/>
              </a:defRPr>
            </a:pPr>
            <a:r>
              <a:t>$0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31520" y="3977640"/>
            <a:ext cx="3200400" cy="438912"/>
          </a:xfrm>
          <a:prstGeom prst="rect">
            <a:avLst/>
          </a:prstGeom>
          <a:solidFill>
            <a:srgbClr val="F0F4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22960" y="399592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Mobile Builds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931920" y="3977640"/>
            <a:ext cx="2286000" cy="438912"/>
          </a:xfrm>
          <a:prstGeom prst="rect">
            <a:avLst/>
          </a:prstGeom>
          <a:solidFill>
            <a:srgbClr val="F0F4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023360" y="399592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Expo EAS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217920" y="3977640"/>
            <a:ext cx="2743200" cy="438912"/>
          </a:xfrm>
          <a:prstGeom prst="rect">
            <a:avLst/>
          </a:prstGeom>
          <a:solidFill>
            <a:srgbClr val="F0F4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309360" y="399592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30 builds/month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961120" y="3977640"/>
            <a:ext cx="1828800" cy="438912"/>
          </a:xfrm>
          <a:prstGeom prst="rect">
            <a:avLst/>
          </a:prstGeom>
          <a:solidFill>
            <a:srgbClr val="F0F4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052560" y="399592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4A853"/>
                </a:solidFill>
                <a:latin typeface="Calibri"/>
              </a:defRPr>
            </a:pPr>
            <a:r>
              <a:t>$0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743200" y="4754880"/>
            <a:ext cx="6675120" cy="64008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926080" y="4800600"/>
            <a:ext cx="6309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Total: $5-15/month (primarily SMS costs)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31520" y="5577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Calibri"/>
              </a:defRPr>
            </a:pPr>
            <a:r>
              <a:t>All core services within free tier. Scales to 1000+ users at ~$80-150/month.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Calibri"/>
              </a:defRPr>
            </a:pPr>
            <a:r>
              <a:t>Project Guardian | Solution Challenge 2026 | TeamKJ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33333"/>
                </a:solidFill>
                <a:latin typeface="Calibri"/>
              </a:defRPr>
            </a:pPr>
            <a:r>
              <a:t>MVP Snapshots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Calibri"/>
              </a:defRPr>
            </a:pPr>
            <a:r>
              <a:t>Replace placeholders with actual app and dashboard screenshots.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3474720" cy="2194560"/>
          </a:xfrm>
          <a:prstGeom prst="rect">
            <a:avLst/>
          </a:prstGeom>
          <a:solidFill>
            <a:srgbClr val="E8EBF0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  <a:latin typeface="Calibri"/>
              </a:defRPr>
            </a:pPr>
            <a:r>
              <a:t>[ Screenshot ]</a:t>
            </a:r>
            <a:br/>
            <a:r>
              <a:t>Home Screen</a:t>
            </a:r>
            <a:br/>
            <a:r>
              <a:t>(SOS Button)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1463040"/>
            <a:ext cx="3474720" cy="2194560"/>
          </a:xfrm>
          <a:prstGeom prst="rect">
            <a:avLst/>
          </a:prstGeom>
          <a:solidFill>
            <a:srgbClr val="E8EBF0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0" y="210312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  <a:latin typeface="Calibri"/>
              </a:defRPr>
            </a:pPr>
            <a:r>
              <a:t>[ Screenshot ]</a:t>
            </a:r>
            <a:br/>
            <a:r>
              <a:t>Countdown Overlay</a:t>
            </a:r>
            <a:br/>
            <a:r>
              <a:t>(Voice Detection)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0" y="1463040"/>
            <a:ext cx="3474720" cy="2194560"/>
          </a:xfrm>
          <a:prstGeom prst="rect">
            <a:avLst/>
          </a:prstGeom>
          <a:solidFill>
            <a:srgbClr val="E8EBF0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0" y="210312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  <a:latin typeface="Calibri"/>
              </a:defRPr>
            </a:pPr>
            <a:r>
              <a:t>[ Screenshot ]</a:t>
            </a:r>
            <a:br/>
            <a:r>
              <a:t>Status Screen</a:t>
            </a:r>
            <a:br/>
            <a:r>
              <a:t>(Evidence Recording)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931920"/>
            <a:ext cx="3474720" cy="2194560"/>
          </a:xfrm>
          <a:prstGeom prst="rect">
            <a:avLst/>
          </a:prstGeom>
          <a:solidFill>
            <a:srgbClr val="E8EBF0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57200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  <a:latin typeface="Calibri"/>
              </a:defRPr>
            </a:pPr>
            <a:r>
              <a:t>[ Screenshot ]</a:t>
            </a:r>
            <a:br/>
            <a:r>
              <a:t>Live Tracking</a:t>
            </a:r>
            <a:br/>
            <a:r>
              <a:t>(GPS Map)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3931920"/>
            <a:ext cx="3474720" cy="2194560"/>
          </a:xfrm>
          <a:prstGeom prst="rect">
            <a:avLst/>
          </a:prstGeom>
          <a:solidFill>
            <a:srgbClr val="E8EBF0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46320" y="457200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  <a:latin typeface="Calibri"/>
              </a:defRPr>
            </a:pPr>
            <a:r>
              <a:t>[ Screenshot ]</a:t>
            </a:r>
            <a:br/>
            <a:r>
              <a:t>Admin Dashboard</a:t>
            </a:r>
            <a:br/>
            <a:r>
              <a:t>(Overview)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0" y="3931920"/>
            <a:ext cx="3474720" cy="2194560"/>
          </a:xfrm>
          <a:prstGeom prst="rect">
            <a:avLst/>
          </a:prstGeom>
          <a:solidFill>
            <a:srgbClr val="E8EBF0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0" y="457200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  <a:latin typeface="Calibri"/>
              </a:defRPr>
            </a:pPr>
            <a:r>
              <a:t>[ Screenshot ]</a:t>
            </a:r>
            <a:br/>
            <a:r>
              <a:t>Event Detail</a:t>
            </a:r>
            <a:br/>
            <a:r>
              <a:t>(Evidence Player)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Calibri"/>
              </a:defRPr>
            </a:pPr>
            <a:r>
              <a:t>Project Guardian | Solution Challenge 2026 | TeamKJ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33333"/>
                </a:solidFill>
                <a:latin typeface="Calibri"/>
              </a:defRPr>
            </a:pPr>
            <a:r>
              <a:t>Roadmap &amp; Future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4A853"/>
                </a:solidFill>
                <a:latin typeface="Calibri"/>
              </a:defRPr>
            </a:pPr>
            <a:r>
              <a:t>Completed Phases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Phase 1:  Core SOS (manual trigger, SMS alerts, push notifications, contacts)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Phase 2:  AI Voice Detection (speech recognition, distress keywords, countdown)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Phase 3:  Evidence Capture (auto audio/video, Firebase Storage, offline-first)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Phase 4:  Admin Dashboard (real-time monitoring, analytics, evidence viewer, export)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285F4"/>
                </a:solidFill>
                <a:latin typeface="Calibri"/>
              </a:defRPr>
            </a:pPr>
            <a:r>
              <a:t>Upcoming Phases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6576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285F4"/>
                </a:solidFill>
                <a:latin typeface="Calibri"/>
              </a:defRPr>
            </a:pPr>
            <a:r>
              <a:t>Phase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36576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Calibri"/>
              </a:defRPr>
            </a:pPr>
            <a:r>
              <a:t>Lock Screen Voice Trigger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3931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Activate SOS without unlocking the phone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36576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285F4"/>
                </a:solidFill>
                <a:latin typeface="Calibri"/>
              </a:defRPr>
            </a:pPr>
            <a:r>
              <a:t>Phase 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0" y="36576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Calibri"/>
              </a:defRPr>
            </a:pPr>
            <a:r>
              <a:t>Google Gemini 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3931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Threat classification, smart emergency messages, context 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6177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285F4"/>
                </a:solidFill>
                <a:latin typeface="Calibri"/>
              </a:defRPr>
            </a:pPr>
            <a:r>
              <a:t>Phase 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46177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Calibri"/>
              </a:defRPr>
            </a:pPr>
            <a:r>
              <a:t>Geofencing &amp; Safe Zones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48920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Auto-alerts when leaving safe zones at unusual hours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46177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285F4"/>
                </a:solidFill>
                <a:latin typeface="Calibri"/>
              </a:defRPr>
            </a:pPr>
            <a:r>
              <a:t>Phase 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0" y="46177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Calibri"/>
              </a:defRPr>
            </a:pPr>
            <a:r>
              <a:t>Community Safety Network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48920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Proximity alerts, safety heatmaps, incident reporting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5778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285F4"/>
                </a:solidFill>
                <a:latin typeface="Calibri"/>
              </a:defRPr>
            </a:pPr>
            <a:r>
              <a:t>Phase 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5778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Calibri"/>
              </a:defRPr>
            </a:pPr>
            <a:r>
              <a:t>Wearable Integration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5852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Wear OS companion app, heart rate anomaly detection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55778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285F4"/>
                </a:solidFill>
                <a:latin typeface="Calibri"/>
              </a:defRPr>
            </a:pPr>
            <a:r>
              <a:t>Phase 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0" y="55778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Calibri"/>
              </a:defRPr>
            </a:pPr>
            <a:r>
              <a:t>Multi-language Expansion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0" y="5852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alibri"/>
              </a:defRPr>
            </a:pPr>
            <a:r>
              <a:t>10+ Indian regional languages, regional emergency numbers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Calibri"/>
              </a:defRPr>
            </a:pPr>
            <a:r>
              <a:t>Project Guardian | Solution Challenge 2026 | TeamKJ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33333"/>
                </a:solidFill>
                <a:latin typeface="Calibri"/>
              </a:defRPr>
            </a:pPr>
            <a:r>
              <a:t>Project Links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54864" cy="109728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86384" y="1188720"/>
            <a:ext cx="104241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280160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Calibri"/>
              </a:defRPr>
            </a:pPr>
            <a:r>
              <a:t>1. GitHub Public Repository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600200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285F4"/>
                </a:solidFill>
                <a:latin typeface="Calibri"/>
              </a:defRPr>
            </a:pPr>
            <a:r>
              <a:t>https://github.com/tejasmulekar112/Project-Guardian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920240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Full source code - monorepo with mobile, backend, dashboard, shared schemas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468880"/>
            <a:ext cx="54864" cy="109728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86384" y="2468880"/>
            <a:ext cx="104241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560320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Calibri"/>
              </a:defRPr>
            </a:pPr>
            <a:r>
              <a:t>2. Demo Video (3 Minutes)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880360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285F4"/>
                </a:solidFill>
                <a:latin typeface="Calibri"/>
              </a:defRPr>
            </a:pPr>
            <a:r>
              <a:t>[ Add YouTube or Google Drive link after recording 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200400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End-to-end demo: SOS trigger, evidence capture, SMS alerts, dashboard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749040"/>
            <a:ext cx="54864" cy="109728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86384" y="3749040"/>
            <a:ext cx="104241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3840480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Calibri"/>
              </a:defRPr>
            </a:pPr>
            <a:r>
              <a:t>3. Admin Dashboard (MVP)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160520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285F4"/>
                </a:solidFill>
                <a:latin typeface="Calibri"/>
              </a:defRPr>
            </a:pPr>
            <a:r>
              <a:t>https://student-attendence-5f147.web.app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480560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Live dashboard with real-time event monitoring, analytics, evidence playback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5029200"/>
            <a:ext cx="54864" cy="1097280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86384" y="5029200"/>
            <a:ext cx="104241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5120640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Calibri"/>
              </a:defRPr>
            </a:pPr>
            <a:r>
              <a:t>4. Backend API (Health Check)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440680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285F4"/>
                </a:solidFill>
                <a:latin typeface="Calibri"/>
              </a:defRPr>
            </a:pPr>
            <a:r>
              <a:t>https://guardian-api-dyuw.onrender.com/health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5760720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Production FastAPI backend deployed on Render.com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Calibri"/>
              </a:defRPr>
            </a:pPr>
            <a:r>
              <a:t>Project Guardian | Solution Challenge 2026 | TeamKJ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3017520"/>
            <a:ext cx="2286000" cy="3657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329184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CCCCCC"/>
                </a:solidFill>
                <a:latin typeface="Calibri"/>
              </a:defRPr>
            </a:pPr>
            <a:r>
              <a:t>Project Guardian - AI-Powered Smart Mobile Safety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93192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CCCC"/>
                </a:solidFill>
                <a:latin typeface="Calibri"/>
              </a:defRPr>
            </a:pPr>
            <a:r>
              <a:t>Team: TeamKJ  |  Leader: Tejas Mulekar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57200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  <a:latin typeface="Calibri"/>
              </a:defRPr>
            </a:pPr>
            <a:r>
              <a:t>Solution Challenge 2026  |  Build with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530352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285F4"/>
                </a:solidFill>
                <a:latin typeface="Calibri"/>
              </a:defRPr>
            </a:pPr>
            <a:r>
              <a:t>github.com/tejasmulekar112/Project-Guardian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